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DM Sans" panose="020B0604020202020204" charset="0"/>
      <p:regular r:id="rId21"/>
    </p:embeddedFont>
    <p:embeddedFont>
      <p:font typeface="DM Sans Bold" panose="020B0604020202020204" charset="0"/>
      <p:regular r:id="rId22"/>
    </p:embeddedFont>
    <p:embeddedFont>
      <p:font typeface="DM Sans SemiBold" panose="020B0604020202020204" charset="0"/>
      <p:regular r:id="rId23"/>
    </p:embeddedFont>
    <p:embeddedFont>
      <p:font typeface="Encode Sans Semi Condensed Bold" panose="020B0604020202020204" charset="0"/>
      <p:regular r:id="rId24"/>
    </p:embeddedFont>
    <p:embeddedFont>
      <p:font typeface="Fragment Mono" panose="020B0604020202020204" charset="0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36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as boas-vindas à turma e alinhe a premissa central da aula: interfaces consistentes não nascem no Figma desenhando botões aleatórios, mas de um processo deliberado que conecta pesquisa, repertório e regras sistêmicas.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Ressalte que o erro mais comum de quem inicia é pular direto para a estética. Mostre como as dores do usuário e os objetivos de negócio balizam a escolha de fontes, hierarquia e componentes.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Conduza o slide passo a passo da esquerda para a direita. Chame atenção para a transição entre o passo 4 e o 5: o Style Guide estabelece a gramática; o Design System entrega a fábrica de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Instrua os alunos sobre postura crítica: o Dribbble muitas vezes mostra conceitos sem restrições reais de produto; o Behance aprofunda o processo; o Awwwards testa os limites da técnica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distinção mais cobrada no mercado. Enfatize que ter uma folha de estilos ou guia de identidade visual não significa possuir um Design System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cada degrau da hierarquia. Destaque o papel dos Design Tokens como ponte direta entre o design no Figma e as variáveis de CSS no código front-end.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Incentive a turma a navegar nas documentações públicas do Material, Carbon e Atlassian. Mostre como eles organizam seções de "Do &amp; Don't" e testes de contraste.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como testar o contraste antes de bater o martelo na paleta. Abra o Coolors ou plugin do Figma para exemplificar o cálculo de contraste entre texto e plano de fundo.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Alerte sobre o erro clássico de juntar ícones de três packs diferentes no mesmo protótipo. A inconsistência de traço e perspectiva quebra a sensação de polimento da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Conclua a aula reforçando que nenhum Design System nasce completo. É muito melhor ter 5 componentes bem documentados e testados do que 50 componentes abandonados e inconsistentes.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A1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3E2D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2173367"/>
            <a:ext cx="782300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1E6E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PLANEJAMENTO DE PROJETO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2912745"/>
            <a:ext cx="7467413" cy="2026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8400" b="1" kern="100" spc="-84" dirty="0">
                <a:solidFill>
                  <a:srgbClr val="FFF4E8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Design System e Style Guides</a:t>
            </a:r>
            <a:endParaRPr lang="en-US" sz="8400" dirty="0"/>
          </a:p>
        </p:txBody>
      </p:sp>
      <p:sp>
        <p:nvSpPr>
          <p:cNvPr id="4" name="Shape 2"/>
          <p:cNvSpPr/>
          <p:nvPr/>
        </p:nvSpPr>
        <p:spPr>
          <a:xfrm>
            <a:off x="8534187" y="0"/>
            <a:ext cx="3657509" cy="6858000"/>
          </a:xfrm>
          <a:prstGeom prst="rect">
            <a:avLst/>
          </a:prstGeom>
          <a:solidFill>
            <a:srgbClr val="3E2D6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979" y="304800"/>
            <a:ext cx="3047924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12458"/>
            <a:ext cx="113789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1E6E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FUNDAMENTAÇÃO DE PROJETO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1237253"/>
            <a:ext cx="10769331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100" spc="-44" dirty="0">
                <a:solidFill>
                  <a:srgbClr val="FFF4E8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Antes da interface,</a:t>
            </a:r>
            <a:endParaRPr lang="en-US" sz="44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4400" b="1" kern="100" spc="-44" dirty="0">
                <a:solidFill>
                  <a:srgbClr val="FFFFFF"/>
                </a:solidFill>
                <a:highlight>
                  <a:srgbClr val="D6343E"/>
                </a:highlight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organize o pensamento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11182" y="2843334"/>
            <a:ext cx="5384665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kern="100" spc="288" dirty="0">
                <a:solidFill>
                  <a:srgbClr val="F1E6E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CONEXÃO ESTRATÉGICA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1182" y="3233241"/>
            <a:ext cx="507987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Brainstorm, ideação, pesquisa de público e busca de referências precisam alimentar o planejamento visual antes de qualquer clique na ferramenta de prototipação.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640" y="2843334"/>
            <a:ext cx="5079873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kern="100" spc="288" dirty="0">
                <a:solidFill>
                  <a:srgbClr val="F1E6E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CRITÉRIOS DE DESIGN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640" y="3233241"/>
            <a:ext cx="5079873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Transforme descobertas de uso e restrições técnicas em critérios objetivos de decisão. Uma interface não deve ser apenas uma coleção de telas bonitas sem coerência sistêmica.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1182" y="5756672"/>
            <a:ext cx="10769331" cy="31651"/>
          </a:xfrm>
          <a:prstGeom prst="roundRect">
            <a:avLst>
              <a:gd name="adj" fmla="val 49998"/>
            </a:avLst>
          </a:prstGeom>
          <a:solidFill>
            <a:srgbClr val="54417E"/>
          </a:solidFill>
          <a:ln/>
        </p:spPr>
      </p:sp>
      <p:sp>
        <p:nvSpPr>
          <p:cNvPr id="9" name="Text 7"/>
          <p:cNvSpPr/>
          <p:nvPr/>
        </p:nvSpPr>
        <p:spPr>
          <a:xfrm>
            <a:off x="711182" y="6053217"/>
            <a:ext cx="107693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1E6E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PONTO DE PARTIDA: CLAREZA DE PROBLEMA GERA CONSISTÊNCIA DE SOLUÇÃO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9498" y="2633861"/>
            <a:ext cx="12700" cy="1869380"/>
          </a:xfrm>
          <a:prstGeom prst="rect">
            <a:avLst/>
          </a:prstGeom>
          <a:solidFill>
            <a:srgbClr val="54417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10858"/>
            <a:ext cx="113789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1E6E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ETAPAS DE CONSTRUÇÃO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1129840"/>
            <a:ext cx="10769331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-36" dirty="0">
                <a:solidFill>
                  <a:srgbClr val="FFF4E8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Da descoberta ao sistema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1182" y="1812131"/>
            <a:ext cx="1076933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4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caminho estruturado que transforma pesquisa inicial em infraestrutura escalável.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1182" y="3006427"/>
            <a:ext cx="84869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B9A9C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1182" y="3326408"/>
            <a:ext cx="1787976" cy="25400"/>
          </a:xfrm>
          <a:prstGeom prst="rect">
            <a:avLst/>
          </a:prstGeom>
          <a:solidFill>
            <a:srgbClr val="11857C"/>
          </a:solidFill>
          <a:ln/>
        </p:spPr>
      </p:sp>
      <p:sp>
        <p:nvSpPr>
          <p:cNvPr id="7" name="Text 5"/>
          <p:cNvSpPr/>
          <p:nvPr/>
        </p:nvSpPr>
        <p:spPr>
          <a:xfrm>
            <a:off x="711182" y="3495695"/>
            <a:ext cx="178807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4E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Compreender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1182" y="3951288"/>
            <a:ext cx="1788076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Entender o público, necessidades reais e objetivos centrais do produto.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56347" y="3006427"/>
            <a:ext cx="89969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B9A9C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956347" y="3326408"/>
            <a:ext cx="1788274" cy="25400"/>
          </a:xfrm>
          <a:prstGeom prst="rect">
            <a:avLst/>
          </a:prstGeom>
          <a:solidFill>
            <a:srgbClr val="11857C"/>
          </a:solidFill>
          <a:ln/>
        </p:spPr>
      </p:sp>
      <p:sp>
        <p:nvSpPr>
          <p:cNvPr id="11" name="Text 9"/>
          <p:cNvSpPr/>
          <p:nvPr/>
        </p:nvSpPr>
        <p:spPr>
          <a:xfrm>
            <a:off x="2956347" y="3495695"/>
            <a:ext cx="178827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4E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Explorar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56347" y="3951288"/>
            <a:ext cx="178827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Explorar hipóteses e dinâmicas visuais em sessões de ideação.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01710" y="3006427"/>
            <a:ext cx="9061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B9A9C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201710" y="3326408"/>
            <a:ext cx="1788175" cy="25400"/>
          </a:xfrm>
          <a:prstGeom prst="rect">
            <a:avLst/>
          </a:prstGeom>
          <a:solidFill>
            <a:srgbClr val="11857C"/>
          </a:solidFill>
          <a:ln/>
        </p:spPr>
      </p:sp>
      <p:sp>
        <p:nvSpPr>
          <p:cNvPr id="15" name="Text 13"/>
          <p:cNvSpPr/>
          <p:nvPr/>
        </p:nvSpPr>
        <p:spPr>
          <a:xfrm>
            <a:off x="5201710" y="3495695"/>
            <a:ext cx="178817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4E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Mapear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01710" y="3951288"/>
            <a:ext cx="178817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Pesquisar referências e identificar padrões visuais recorrentes.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46975" y="3006427"/>
            <a:ext cx="91507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B9A9C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46975" y="3326408"/>
            <a:ext cx="1788274" cy="25400"/>
          </a:xfrm>
          <a:prstGeom prst="rect">
            <a:avLst/>
          </a:prstGeom>
          <a:solidFill>
            <a:srgbClr val="11857C"/>
          </a:solidFill>
          <a:ln/>
        </p:spPr>
      </p:sp>
      <p:sp>
        <p:nvSpPr>
          <p:cNvPr id="19" name="Text 17"/>
          <p:cNvSpPr/>
          <p:nvPr/>
        </p:nvSpPr>
        <p:spPr>
          <a:xfrm>
            <a:off x="7446975" y="3495695"/>
            <a:ext cx="178827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4E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Documentar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46975" y="3951288"/>
            <a:ext cx="178827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Registrar regras de marca e hierarquia visual em um Style Guide.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338" y="3006427"/>
            <a:ext cx="9105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B9A9C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692338" y="3326408"/>
            <a:ext cx="1787976" cy="25400"/>
          </a:xfrm>
          <a:prstGeom prst="rect">
            <a:avLst/>
          </a:prstGeom>
          <a:solidFill>
            <a:srgbClr val="11857C"/>
          </a:solidFill>
          <a:ln/>
        </p:spPr>
      </p:sp>
      <p:sp>
        <p:nvSpPr>
          <p:cNvPr id="23" name="Text 21"/>
          <p:cNvSpPr/>
          <p:nvPr/>
        </p:nvSpPr>
        <p:spPr>
          <a:xfrm>
            <a:off x="9692338" y="3495695"/>
            <a:ext cx="178807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4E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Sistematizar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92338" y="3951288"/>
            <a:ext cx="1788076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Consolidar componentes de código e governança em um Design System.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1182" y="6154916"/>
            <a:ext cx="113789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1E6E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EVOLUÇÃO PROGRESSIVA: DA PREMISSA CONCEITUAL AO ECOSSISTEMA DOCUMENTADO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460058"/>
            <a:ext cx="113789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1E6E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BENCHMARKING CRÍTICO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1079040"/>
            <a:ext cx="10769331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-36" dirty="0">
                <a:solidFill>
                  <a:srgbClr val="FFF4E8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Repertório: olhar antes de criar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1182" y="1781334"/>
            <a:ext cx="1137891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referências para entender escolhas, não para copiar telas.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1182" y="2306737"/>
            <a:ext cx="3386549" cy="3201988"/>
          </a:xfrm>
          <a:prstGeom prst="rect">
            <a:avLst/>
          </a:prstGeom>
          <a:solidFill>
            <a:srgbClr val="3E2D6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776" y="2739524"/>
            <a:ext cx="1625559" cy="9143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9776" y="3883671"/>
            <a:ext cx="292936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Dribbble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39776" y="4453761"/>
            <a:ext cx="29293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Explore soluções visuais e microinterações.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02523" y="2306737"/>
            <a:ext cx="3386549" cy="3201988"/>
          </a:xfrm>
          <a:prstGeom prst="rect">
            <a:avLst/>
          </a:prstGeom>
          <a:solidFill>
            <a:srgbClr val="3E2D6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118" y="2739524"/>
            <a:ext cx="1625559" cy="9143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1118" y="3883671"/>
            <a:ext cx="292936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Behance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631118" y="4453761"/>
            <a:ext cx="29293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Estude projetos completos, processos e apresentações.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093865" y="2306737"/>
            <a:ext cx="3386549" cy="3201988"/>
          </a:xfrm>
          <a:prstGeom prst="rect">
            <a:avLst/>
          </a:prstGeom>
          <a:solidFill>
            <a:srgbClr val="3E2D6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2459" y="2739524"/>
            <a:ext cx="1625559" cy="91430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2459" y="3883671"/>
            <a:ext cx="292936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Awwwards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8322459" y="4453761"/>
            <a:ext cx="29293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Observe experiências digitais, navegação e direção visual.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10858"/>
            <a:ext cx="113789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1E6E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DIFERENCIAÇÃO FUNDAMENTAL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1129840"/>
            <a:ext cx="10769331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-36" dirty="0">
                <a:solidFill>
                  <a:srgbClr val="FFF4E8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Style Guide e Design System não são a mesma coisa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1182" y="2565479"/>
            <a:ext cx="53846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1E6E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MANUAL DE ESTILO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1182" y="3029050"/>
            <a:ext cx="5079873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b="1" kern="100" spc="-34" dirty="0">
                <a:solidFill>
                  <a:srgbClr val="FFF4E8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Style Guide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1182" y="3606760"/>
            <a:ext cx="507987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Documenta a linguagem visual e as regras de uso.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640" y="2565479"/>
            <a:ext cx="507987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1E6E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ECOSSISTEMA VIVO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640" y="3029050"/>
            <a:ext cx="5079873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b="1" kern="100" spc="-34" dirty="0">
                <a:solidFill>
                  <a:srgbClr val="FFF4E8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Design System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640" y="3606760"/>
            <a:ext cx="5079873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Combina fundamentos, componentes, padrões, documentação e governança para escalar experiências.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1182" y="5710992"/>
            <a:ext cx="1076933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Style Guide explica como a marca deve parecer; o Design System ajuda o time a construir com consistência.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89498" y="2334022"/>
            <a:ext cx="12700" cy="2460327"/>
          </a:xfrm>
          <a:prstGeom prst="rect">
            <a:avLst/>
          </a:prstGeom>
          <a:solidFill>
            <a:srgbClr val="54417E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21077"/>
            <a:ext cx="113789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1E6E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ESTRUTURA EM CAMADAS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1140059"/>
            <a:ext cx="10769331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-36" dirty="0">
                <a:solidFill>
                  <a:srgbClr val="FFF4E8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A anatomia de um Design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1182" y="1842353"/>
            <a:ext cx="1137891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 menor bloco atômico aos acordos de equipe que sustentam a evolução contínua.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1182" y="2374424"/>
            <a:ext cx="515607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4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Fundamentos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1182" y="2830969"/>
            <a:ext cx="5156071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Bases perceptivas universais: cor, paleta cromática, tipografia, escala tipográfica, espaçamento, grids, elevação, sombras, forma e formato.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24442" y="2374424"/>
            <a:ext cx="515607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4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Design Tokens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24442" y="2830969"/>
            <a:ext cx="5156071" cy="966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Decisões nomeadas, reutilizáveis e agnósticas de plataforma, como cor de ação, raio de borda, </a:t>
            </a:r>
            <a:r>
              <a:rPr lang="en-US" sz="1800" dirty="0">
                <a:solidFill>
                  <a:srgbClr val="F1E6EE"/>
                </a:solidFill>
                <a:highlight>
                  <a:srgbClr val="3E2D6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color-action-primary</a:t>
            </a: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</a:t>
            </a:r>
            <a:r>
              <a:rPr lang="en-US" sz="1800" dirty="0">
                <a:solidFill>
                  <a:srgbClr val="F1E6EE"/>
                </a:solidFill>
                <a:highlight>
                  <a:srgbClr val="3E2D6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radius-md</a:t>
            </a: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1182" y="4573806"/>
            <a:ext cx="515607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4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Componentes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1182" y="5030351"/>
            <a:ext cx="515607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Blocos reutilizáveis no Figma e no código: botões, campos, inputs de formulário, cards, navegação, feedback, modais e alertas.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24442" y="4573806"/>
            <a:ext cx="515607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4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 Padrões e governança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24442" y="5030351"/>
            <a:ext cx="515607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Quando usar cada elemento, como combinar, revisar e evoluir; acessibilidade, versionamento e ritos de aprovação.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1182" y="6144597"/>
            <a:ext cx="113789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1E6E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SEM GOVERNANÇA, OS COMPONENTES PERDEM COERÊNCIA E O SISTEMA SE FRAGMENTA EM POUCOS MESES.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9498" y="2367756"/>
            <a:ext cx="12700" cy="1970782"/>
          </a:xfrm>
          <a:prstGeom prst="rect">
            <a:avLst/>
          </a:prstGeom>
          <a:solidFill>
            <a:srgbClr val="54417E"/>
          </a:solidFill>
          <a:ln/>
        </p:spPr>
      </p:sp>
      <p:sp>
        <p:nvSpPr>
          <p:cNvPr id="15" name="Shape 13"/>
          <p:cNvSpPr/>
          <p:nvPr/>
        </p:nvSpPr>
        <p:spPr>
          <a:xfrm>
            <a:off x="711182" y="4332188"/>
            <a:ext cx="5384665" cy="12700"/>
          </a:xfrm>
          <a:prstGeom prst="rect">
            <a:avLst/>
          </a:prstGeom>
          <a:solidFill>
            <a:srgbClr val="54417E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9498" y="4338538"/>
            <a:ext cx="12700" cy="1650802"/>
          </a:xfrm>
          <a:prstGeom prst="rect">
            <a:avLst/>
          </a:prstGeom>
          <a:solidFill>
            <a:srgbClr val="54417E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4332188"/>
            <a:ext cx="5384665" cy="12700"/>
          </a:xfrm>
          <a:prstGeom prst="rect">
            <a:avLst/>
          </a:prstGeom>
          <a:solidFill>
            <a:srgbClr val="54417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436499"/>
            <a:ext cx="6603835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-36" dirty="0">
                <a:solidFill>
                  <a:srgbClr val="FFF4E8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Exemplos para estudar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11182" y="1137841"/>
            <a:ext cx="6603835" cy="338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endParaRPr lang="en-US" sz="1800" dirty="0"/>
          </a:p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F1E6EE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Material Design:</a:t>
            </a: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linguagem e recursos para experiências digitais em diferentes plataformas.</a:t>
            </a:r>
            <a:endParaRPr lang="en-US" sz="1800" dirty="0"/>
          </a:p>
          <a:p>
            <a:pPr marL="0" indent="0" algn="l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F1E6EE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IBM Carbon:</a:t>
            </a: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reúne fundamentos, componentes, padrões, visualização de dados e recursos de código.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F1E6EE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Atlassian Design System:</a:t>
            </a: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organiza linguagem, cor, tipografia, acessibilidade, tokens e iconografia.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3E2D6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595" y="457200"/>
            <a:ext cx="3555911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256858"/>
            <a:ext cx="6603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1E6E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FUNDAMENTO 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875840"/>
            <a:ext cx="6299042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-36" dirty="0">
                <a:solidFill>
                  <a:srgbClr val="FFF4E8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Escolha com intenção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1182" y="1475581"/>
            <a:ext cx="629904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 interface, cor e tipografia são semântica e hierarquia, não apenas adorno. Cada matiz deve cumprir um papel na arquitetura da informação: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1182" y="2434749"/>
            <a:ext cx="629904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4E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Papéis semânticos fundamentais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1182" y="2890341"/>
            <a:ext cx="629904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Defina claramente: ação primária, superfícies de fundo, textos legíveis e estados de feedback (sucesso, alerta e erro).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1182" y="3887609"/>
            <a:ext cx="629904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4E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Exploração assistida com Coolors.co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1182" y="4343202"/>
            <a:ext cx="629904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Gere harmonias, explore variações tonais e exporte paletas estruturadas em: </a:t>
            </a:r>
            <a:r>
              <a:rPr lang="en-US" sz="1500" b="1" dirty="0">
                <a:solidFill>
                  <a:srgbClr val="F1E6EE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coolors.co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1182" y="5340469"/>
            <a:ext cx="629904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4E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Validação estrita de contraste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1182" y="5796062"/>
            <a:ext cx="629904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Garanta legibilidade WCAG AA (mínimo 4.5:1 para texto padrão). Uma paleta atrativa precisa funcionar para todos os usuários.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3E2D68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406400"/>
            <a:ext cx="4063898" cy="524470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21407" y="5860336"/>
            <a:ext cx="4063898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DICA PRÁTICA: LIMITE SUA PALETA INICIAL A UMA COR DE MARCA, NEUTROS E QUATRO ESTADOS DE SISTEMA.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1182" y="3645991"/>
            <a:ext cx="6299042" cy="12700"/>
          </a:xfrm>
          <a:prstGeom prst="rect">
            <a:avLst/>
          </a:prstGeom>
          <a:solidFill>
            <a:srgbClr val="54417E"/>
          </a:solidFill>
          <a:ln/>
        </p:spPr>
      </p:sp>
      <p:sp>
        <p:nvSpPr>
          <p:cNvPr id="15" name="Shape 12"/>
          <p:cNvSpPr/>
          <p:nvPr/>
        </p:nvSpPr>
        <p:spPr>
          <a:xfrm>
            <a:off x="711182" y="5098852"/>
            <a:ext cx="6299042" cy="12700"/>
          </a:xfrm>
          <a:prstGeom prst="rect">
            <a:avLst/>
          </a:prstGeom>
          <a:solidFill>
            <a:srgbClr val="54417E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3E2D6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457200"/>
            <a:ext cx="3962301" cy="5943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83068" y="358457"/>
            <a:ext cx="680703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1E6E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SISTEMA ICONOGRÁFICO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283068" y="977440"/>
            <a:ext cx="6197445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-36" dirty="0">
                <a:solidFill>
                  <a:srgbClr val="FFF4E8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Ícones: consistência nos pequenos sinais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283068" y="2283222"/>
            <a:ext cx="418197" cy="400050"/>
          </a:xfrm>
          <a:prstGeom prst="rect">
            <a:avLst/>
          </a:prstGeom>
          <a:solidFill>
            <a:srgbClr val="D6343E"/>
          </a:solidFill>
          <a:ln/>
        </p:spPr>
      </p:sp>
      <p:sp>
        <p:nvSpPr>
          <p:cNvPr id="7" name="Text 4"/>
          <p:cNvSpPr/>
          <p:nvPr/>
        </p:nvSpPr>
        <p:spPr>
          <a:xfrm>
            <a:off x="5397365" y="2368947"/>
            <a:ext cx="7991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79060" y="2325449"/>
            <a:ext cx="5601453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Defina família, espessura, tamanho, alinhamento e regra de uso. Padronize a caixa em 24px e os cantos arredondados.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283068" y="3640038"/>
            <a:ext cx="418197" cy="400050"/>
          </a:xfrm>
          <a:prstGeom prst="rect">
            <a:avLst/>
          </a:prstGeom>
          <a:solidFill>
            <a:srgbClr val="D6343E"/>
          </a:solidFill>
          <a:ln/>
        </p:spPr>
      </p:sp>
      <p:sp>
        <p:nvSpPr>
          <p:cNvPr id="10" name="Text 7"/>
          <p:cNvSpPr/>
          <p:nvPr/>
        </p:nvSpPr>
        <p:spPr>
          <a:xfrm>
            <a:off x="5397365" y="3725763"/>
            <a:ext cx="7991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879060" y="3682266"/>
            <a:ext cx="5601453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a biblioteca Boxicons como ponto de partida para ícones consistentes: </a:t>
            </a:r>
            <a:r>
              <a:rPr lang="en-US" sz="1800" b="1" dirty="0">
                <a:solidFill>
                  <a:srgbClr val="F1E6EE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boxicons.com/icons?free=true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283068" y="4996855"/>
            <a:ext cx="418197" cy="400050"/>
          </a:xfrm>
          <a:prstGeom prst="rect">
            <a:avLst/>
          </a:prstGeom>
          <a:solidFill>
            <a:srgbClr val="D6343E"/>
          </a:solidFill>
          <a:ln/>
        </p:spPr>
      </p:sp>
      <p:sp>
        <p:nvSpPr>
          <p:cNvPr id="13" name="Text 10"/>
          <p:cNvSpPr/>
          <p:nvPr/>
        </p:nvSpPr>
        <p:spPr>
          <a:xfrm>
            <a:off x="5397365" y="5082580"/>
            <a:ext cx="7991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879060" y="5039082"/>
            <a:ext cx="5601453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Evite misturar estilos sem critério. O ícone reforça a ação, sem competir com o texto. Combine ícones preenchidos e contornados na mesma navegação apenas com critério de estado.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283068" y="3446363"/>
            <a:ext cx="6197445" cy="3175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283068" y="4803180"/>
            <a:ext cx="6197445" cy="31750"/>
          </a:xfrm>
          <a:prstGeom prst="rect">
            <a:avLst/>
          </a:prstGeom>
          <a:solidFill>
            <a:srgbClr val="808080">
              <a:alpha val="35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307658"/>
            <a:ext cx="113789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1E6EE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GUIA PRÁTICO DE EXECUÇÃO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926640"/>
            <a:ext cx="10769331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-36" dirty="0">
                <a:solidFill>
                  <a:srgbClr val="FFF4E8"/>
                </a:solidFill>
                <a:latin typeface="Encode Sans Semi Condensed Bold" pitchFamily="34" charset="0"/>
                <a:ea typeface="Encode Sans Semi Condensed Bold" pitchFamily="34" charset="-122"/>
                <a:cs typeface="Encode Sans Semi Condensed Bold" pitchFamily="34" charset="-120"/>
              </a:rPr>
              <a:t>Checklist para o planejamento inicial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1182" y="1851422"/>
            <a:ext cx="84869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B9A9C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2690" y="1806734"/>
            <a:ext cx="1037782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Quem é o público e o que precisa fazer?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1182" y="2527002"/>
            <a:ext cx="89969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B9A9C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53687" y="2482314"/>
            <a:ext cx="10326826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Quais referências ajudam a definir o território visual?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1182" y="3202583"/>
            <a:ext cx="9061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B9A9C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60136" y="3157895"/>
            <a:ext cx="10320377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Quais decisões precisam ser consistentes entre telas e canais?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1182" y="3878163"/>
            <a:ext cx="91507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B9A9C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69065" y="3833475"/>
            <a:ext cx="1031144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Quais fundamentos, componentes e padrões entram na primeira versão?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1182" y="4553744"/>
            <a:ext cx="9105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B9A9C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64501" y="4509056"/>
            <a:ext cx="10316011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Como o time vai documentar, testar e evoluir o sistema?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1182" y="6099870"/>
            <a:ext cx="10769331" cy="6350"/>
          </a:xfrm>
          <a:prstGeom prst="rect">
            <a:avLst/>
          </a:prstGeom>
          <a:solidFill>
            <a:srgbClr val="54417E"/>
          </a:solidFill>
          <a:ln/>
        </p:spPr>
      </p:sp>
      <p:sp>
        <p:nvSpPr>
          <p:cNvPr id="15" name="Text 13"/>
          <p:cNvSpPr/>
          <p:nvPr/>
        </p:nvSpPr>
        <p:spPr>
          <a:xfrm>
            <a:off x="711182" y="6234172"/>
            <a:ext cx="10769331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Comece pequeno, registre o raciocínio e trate o sistema como produto vivo.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1182" y="2297212"/>
            <a:ext cx="10769331" cy="12700"/>
          </a:xfrm>
          <a:prstGeom prst="rect">
            <a:avLst/>
          </a:prstGeom>
          <a:solidFill>
            <a:srgbClr val="54417E"/>
          </a:solidFill>
          <a:ln/>
        </p:spPr>
      </p:sp>
      <p:sp>
        <p:nvSpPr>
          <p:cNvPr id="17" name="Shape 15"/>
          <p:cNvSpPr/>
          <p:nvPr/>
        </p:nvSpPr>
        <p:spPr>
          <a:xfrm>
            <a:off x="711182" y="2972792"/>
            <a:ext cx="10769331" cy="12700"/>
          </a:xfrm>
          <a:prstGeom prst="rect">
            <a:avLst/>
          </a:prstGeom>
          <a:solidFill>
            <a:srgbClr val="54417E"/>
          </a:solidFill>
          <a:ln/>
        </p:spPr>
      </p:sp>
      <p:sp>
        <p:nvSpPr>
          <p:cNvPr id="18" name="Shape 16"/>
          <p:cNvSpPr/>
          <p:nvPr/>
        </p:nvSpPr>
        <p:spPr>
          <a:xfrm>
            <a:off x="711182" y="3648373"/>
            <a:ext cx="10769331" cy="12700"/>
          </a:xfrm>
          <a:prstGeom prst="rect">
            <a:avLst/>
          </a:prstGeom>
          <a:solidFill>
            <a:srgbClr val="54417E"/>
          </a:solidFill>
          <a:ln/>
        </p:spPr>
      </p:sp>
      <p:sp>
        <p:nvSpPr>
          <p:cNvPr id="19" name="Shape 17"/>
          <p:cNvSpPr/>
          <p:nvPr/>
        </p:nvSpPr>
        <p:spPr>
          <a:xfrm>
            <a:off x="711182" y="4323953"/>
            <a:ext cx="10769331" cy="12700"/>
          </a:xfrm>
          <a:prstGeom prst="rect">
            <a:avLst/>
          </a:prstGeom>
          <a:solidFill>
            <a:srgbClr val="54417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1117</Words>
  <Application>Microsoft Office PowerPoint</Application>
  <PresentationFormat>Widescreen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9" baseType="lpstr">
      <vt:lpstr>DM Sans</vt:lpstr>
      <vt:lpstr>Arial</vt:lpstr>
      <vt:lpstr>Encode Sans Semi Condensed Bold</vt:lpstr>
      <vt:lpstr>Consolas</vt:lpstr>
      <vt:lpstr>DM Sans Bold</vt:lpstr>
      <vt:lpstr>Fragment Mono</vt:lpstr>
      <vt:lpstr>DM Sans SemiBold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lastModifiedBy>Cyntia Almeida</cp:lastModifiedBy>
  <cp:revision>3</cp:revision>
  <dcterms:created xsi:type="dcterms:W3CDTF">2026-10-19T19:32:34Z</dcterms:created>
  <dcterms:modified xsi:type="dcterms:W3CDTF">2026-10-26T18:05:45Z</dcterms:modified>
</cp:coreProperties>
</file>